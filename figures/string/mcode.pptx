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1430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B6CA"/>
    <a:srgbClr val="4EB3D3"/>
    <a:srgbClr val="E7298A"/>
    <a:srgbClr val="7FC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A5DBD-227A-4FC6-90FF-D2347DB5E1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881E8-3A8D-4D2E-8EFE-838D80E5E3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2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881E8-3A8D-4D2E-8EFE-838D80E5E3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46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50" y="1122363"/>
            <a:ext cx="8572500" cy="2387600"/>
          </a:xfrm>
        </p:spPr>
        <p:txBody>
          <a:bodyPr anchor="b"/>
          <a:lstStyle>
            <a:lvl1pPr algn="ctr">
              <a:defRPr sz="56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3602038"/>
            <a:ext cx="8572500" cy="1655762"/>
          </a:xfrm>
        </p:spPr>
        <p:txBody>
          <a:bodyPr/>
          <a:lstStyle>
            <a:lvl1pPr marL="0" indent="0" algn="ctr">
              <a:buNone/>
              <a:defRPr sz="2250"/>
            </a:lvl1pPr>
            <a:lvl2pPr marL="428625" indent="0" algn="ctr">
              <a:buNone/>
              <a:defRPr sz="1875"/>
            </a:lvl2pPr>
            <a:lvl3pPr marL="857250" indent="0" algn="ctr">
              <a:buNone/>
              <a:defRPr sz="1688"/>
            </a:lvl3pPr>
            <a:lvl4pPr marL="1285875" indent="0" algn="ctr">
              <a:buNone/>
              <a:defRPr sz="1500"/>
            </a:lvl4pPr>
            <a:lvl5pPr marL="1714500" indent="0" algn="ctr">
              <a:buNone/>
              <a:defRPr sz="1500"/>
            </a:lvl5pPr>
            <a:lvl6pPr marL="2143125" indent="0" algn="ctr">
              <a:buNone/>
              <a:defRPr sz="1500"/>
            </a:lvl6pPr>
            <a:lvl7pPr marL="2571750" indent="0" algn="ctr">
              <a:buNone/>
              <a:defRPr sz="1500"/>
            </a:lvl7pPr>
            <a:lvl8pPr marL="3000375" indent="0" algn="ctr">
              <a:buNone/>
              <a:defRPr sz="1500"/>
            </a:lvl8pPr>
            <a:lvl9pPr marL="34290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15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0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59" y="1709739"/>
            <a:ext cx="9858375" cy="2852737"/>
          </a:xfrm>
        </p:spPr>
        <p:txBody>
          <a:bodyPr anchor="b"/>
          <a:lstStyle>
            <a:lvl1pPr>
              <a:defRPr sz="56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59" y="4589464"/>
            <a:ext cx="9858375" cy="1500187"/>
          </a:xfrm>
        </p:spPr>
        <p:txBody>
          <a:bodyPr/>
          <a:lstStyle>
            <a:lvl1pPr marL="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1pPr>
            <a:lvl2pPr marL="428625" indent="0">
              <a:buNone/>
              <a:defRPr sz="1875">
                <a:solidFill>
                  <a:schemeClr val="tx1">
                    <a:tint val="82000"/>
                  </a:schemeClr>
                </a:solidFill>
              </a:defRPr>
            </a:lvl2pPr>
            <a:lvl3pPr marL="857250" indent="0">
              <a:buNone/>
              <a:defRPr sz="1688">
                <a:solidFill>
                  <a:schemeClr val="tx1">
                    <a:tint val="82000"/>
                  </a:schemeClr>
                </a:solidFill>
              </a:defRPr>
            </a:lvl3pPr>
            <a:lvl4pPr marL="128587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4pPr>
            <a:lvl5pPr marL="17145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5pPr>
            <a:lvl6pPr marL="214312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6pPr>
            <a:lvl7pPr marL="257175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7pPr>
            <a:lvl8pPr marL="3000375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8pPr>
            <a:lvl9pPr marL="34290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5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1825625"/>
            <a:ext cx="48577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1825625"/>
            <a:ext cx="48577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4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365126"/>
            <a:ext cx="98583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2" y="1681163"/>
            <a:ext cx="4835425" cy="823912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2" y="2505075"/>
            <a:ext cx="483542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7" y="1681163"/>
            <a:ext cx="4859239" cy="823912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7" y="2505075"/>
            <a:ext cx="485923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4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4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0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457200"/>
            <a:ext cx="3686472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987426"/>
            <a:ext cx="5786438" cy="4873625"/>
          </a:xfrm>
        </p:spPr>
        <p:txBody>
          <a:bodyPr/>
          <a:lstStyle>
            <a:lvl1pPr>
              <a:defRPr sz="3000"/>
            </a:lvl1pPr>
            <a:lvl2pPr>
              <a:defRPr sz="2625"/>
            </a:lvl2pPr>
            <a:lvl3pPr>
              <a:defRPr sz="2250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2057400"/>
            <a:ext cx="368647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5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2" y="457200"/>
            <a:ext cx="3686472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987426"/>
            <a:ext cx="5786438" cy="4873625"/>
          </a:xfrm>
        </p:spPr>
        <p:txBody>
          <a:bodyPr anchor="t"/>
          <a:lstStyle>
            <a:lvl1pPr marL="0" indent="0">
              <a:buNone/>
              <a:defRPr sz="3000"/>
            </a:lvl1pPr>
            <a:lvl2pPr marL="428625" indent="0">
              <a:buNone/>
              <a:defRPr sz="2625"/>
            </a:lvl2pPr>
            <a:lvl3pPr marL="857250" indent="0">
              <a:buNone/>
              <a:defRPr sz="2250"/>
            </a:lvl3pPr>
            <a:lvl4pPr marL="1285875" indent="0">
              <a:buNone/>
              <a:defRPr sz="1875"/>
            </a:lvl4pPr>
            <a:lvl5pPr marL="1714500" indent="0">
              <a:buNone/>
              <a:defRPr sz="1875"/>
            </a:lvl5pPr>
            <a:lvl6pPr marL="2143125" indent="0">
              <a:buNone/>
              <a:defRPr sz="1875"/>
            </a:lvl6pPr>
            <a:lvl7pPr marL="2571750" indent="0">
              <a:buNone/>
              <a:defRPr sz="1875"/>
            </a:lvl7pPr>
            <a:lvl8pPr marL="3000375" indent="0">
              <a:buNone/>
              <a:defRPr sz="1875"/>
            </a:lvl8pPr>
            <a:lvl9pPr marL="3429000" indent="0">
              <a:buNone/>
              <a:defRPr sz="18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2" y="2057400"/>
            <a:ext cx="368647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428625" indent="0">
              <a:buNone/>
              <a:defRPr sz="1313"/>
            </a:lvl2pPr>
            <a:lvl3pPr marL="857250" indent="0">
              <a:buNone/>
              <a:defRPr sz="1125"/>
            </a:lvl3pPr>
            <a:lvl4pPr marL="1285875" indent="0">
              <a:buNone/>
              <a:defRPr sz="938"/>
            </a:lvl4pPr>
            <a:lvl5pPr marL="1714500" indent="0">
              <a:buNone/>
              <a:defRPr sz="938"/>
            </a:lvl5pPr>
            <a:lvl6pPr marL="2143125" indent="0">
              <a:buNone/>
              <a:defRPr sz="938"/>
            </a:lvl6pPr>
            <a:lvl7pPr marL="2571750" indent="0">
              <a:buNone/>
              <a:defRPr sz="938"/>
            </a:lvl7pPr>
            <a:lvl8pPr marL="3000375" indent="0">
              <a:buNone/>
              <a:defRPr sz="938"/>
            </a:lvl8pPr>
            <a:lvl9pPr marL="3429000" indent="0">
              <a:buNone/>
              <a:defRPr sz="9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6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20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365125"/>
            <a:ext cx="2464594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365125"/>
            <a:ext cx="725090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4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365126"/>
            <a:ext cx="98583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1825625"/>
            <a:ext cx="98583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3" y="6356351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91877-C704-493F-97C1-0E118205035C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6356351"/>
            <a:ext cx="3857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6356351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1D0CAC-CA9A-44BD-A0CA-0235D14CC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2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57250" rtl="0" eaLnBrk="1" latinLnBrk="0" hangingPunct="1">
        <a:lnSpc>
          <a:spcPct val="90000"/>
        </a:lnSpc>
        <a:spcBef>
          <a:spcPct val="0"/>
        </a:spcBef>
        <a:buNone/>
        <a:defRPr sz="41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85725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1pPr>
      <a:lvl2pPr marL="6429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0715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3pPr>
      <a:lvl4pPr marL="15001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35743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78606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214688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643313" indent="-214313" algn="l" defTabSz="857250" rtl="0" eaLnBrk="1" latinLnBrk="0" hangingPunct="1">
        <a:lnSpc>
          <a:spcPct val="90000"/>
        </a:lnSpc>
        <a:spcBef>
          <a:spcPts val="469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857250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3E85-B1B3-1A4A-5536-9B2921400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34" y="0"/>
            <a:ext cx="4642777" cy="373473"/>
          </a:xfrm>
        </p:spPr>
        <p:txBody>
          <a:bodyPr>
            <a:noAutofit/>
          </a:bodyPr>
          <a:lstStyle/>
          <a:p>
            <a:r>
              <a:rPr lang="en-US" sz="1600" b="1" dirty="0"/>
              <a:t>Functional modules identified by MCODE analysis.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E87B25B-2C3C-FB5D-C744-60B9A9080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836" y="1079684"/>
            <a:ext cx="3222434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584B8C-5612-1444-0116-613FBC602154}"/>
              </a:ext>
            </a:extLst>
          </p:cNvPr>
          <p:cNvSpPr txBox="1"/>
          <p:nvPr/>
        </p:nvSpPr>
        <p:spPr>
          <a:xfrm>
            <a:off x="257421" y="566362"/>
            <a:ext cx="367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Cluster 1 - Ribosome Biogenesis and Translation Machinery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250E40-1548-84C5-5CC2-5BBF1345C0EE}"/>
              </a:ext>
            </a:extLst>
          </p:cNvPr>
          <p:cNvSpPr txBox="1"/>
          <p:nvPr/>
        </p:nvSpPr>
        <p:spPr>
          <a:xfrm>
            <a:off x="7768957" y="566362"/>
            <a:ext cx="3502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Cluster 3 – </a:t>
            </a:r>
            <a:r>
              <a:rPr lang="en-US" sz="1400" b="1" dirty="0" err="1"/>
              <a:t>Tailocin</a:t>
            </a:r>
            <a:r>
              <a:rPr lang="en-US" sz="1400" b="1" dirty="0"/>
              <a:t> (R-</a:t>
            </a:r>
            <a:r>
              <a:rPr lang="en-US" sz="1400" b="1" dirty="0" err="1"/>
              <a:t>pyocin</a:t>
            </a:r>
            <a:r>
              <a:rPr lang="en-US" sz="1400" b="1" dirty="0"/>
              <a:t>)-Associated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6A2AF2-3596-D842-720F-C8E293B70C30}"/>
              </a:ext>
            </a:extLst>
          </p:cNvPr>
          <p:cNvSpPr txBox="1"/>
          <p:nvPr/>
        </p:nvSpPr>
        <p:spPr>
          <a:xfrm>
            <a:off x="4179976" y="572220"/>
            <a:ext cx="3502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Cluster 2 – Metabolic Adaptation and Anaerobic Stress Response</a:t>
            </a:r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CB74F2-9401-E948-A082-169E82326A46}"/>
              </a:ext>
            </a:extLst>
          </p:cNvPr>
          <p:cNvSpPr txBox="1"/>
          <p:nvPr/>
        </p:nvSpPr>
        <p:spPr>
          <a:xfrm>
            <a:off x="542219" y="4212952"/>
            <a:ext cx="2732690" cy="523220"/>
          </a:xfrm>
          <a:prstGeom prst="rect">
            <a:avLst/>
          </a:prstGeom>
          <a:noFill/>
          <a:ln w="19050">
            <a:solidFill>
              <a:srgbClr val="7FCDBB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Score (Density*#Nodes): 26.786</a:t>
            </a:r>
            <a:br>
              <a:rPr lang="en-US" sz="1400" b="1" dirty="0"/>
            </a:br>
            <a:r>
              <a:rPr lang="en-US" sz="1400" b="1" dirty="0"/>
              <a:t>Nodes: 29       Edges: 375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209EF7-1617-F480-A7ED-DF92A97CF975}"/>
              </a:ext>
            </a:extLst>
          </p:cNvPr>
          <p:cNvSpPr txBox="1"/>
          <p:nvPr/>
        </p:nvSpPr>
        <p:spPr>
          <a:xfrm>
            <a:off x="4286629" y="4219449"/>
            <a:ext cx="2732689" cy="523220"/>
          </a:xfrm>
          <a:prstGeom prst="rect">
            <a:avLst/>
          </a:prstGeom>
          <a:noFill/>
          <a:ln w="19050">
            <a:solidFill>
              <a:srgbClr val="5CB6CA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Score (Density*#Nodes): 14.889</a:t>
            </a:r>
            <a:br>
              <a:rPr lang="en-US" sz="1400" b="1" dirty="0"/>
            </a:br>
            <a:r>
              <a:rPr lang="en-US" sz="1400" b="1" dirty="0"/>
              <a:t>Nodes: 19       Edges: 134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849D4-E15E-EC87-7BAA-883CF3EF3669}"/>
              </a:ext>
            </a:extLst>
          </p:cNvPr>
          <p:cNvSpPr txBox="1"/>
          <p:nvPr/>
        </p:nvSpPr>
        <p:spPr>
          <a:xfrm>
            <a:off x="8073161" y="4219266"/>
            <a:ext cx="2732689" cy="523220"/>
          </a:xfrm>
          <a:prstGeom prst="rect">
            <a:avLst/>
          </a:prstGeom>
          <a:noFill/>
          <a:ln w="19050">
            <a:solidFill>
              <a:srgbClr val="E7298A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Score (Density*#Nodes): 13.368</a:t>
            </a:r>
            <a:br>
              <a:rPr lang="en-US" sz="1400" b="1" dirty="0"/>
            </a:br>
            <a:r>
              <a:rPr lang="en-US" sz="1400" b="1" dirty="0"/>
              <a:t>Nodes: 20       Edges: 127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A7C8CB-50C1-FA82-AE51-BEBB146A1C5F}"/>
              </a:ext>
            </a:extLst>
          </p:cNvPr>
          <p:cNvSpPr txBox="1"/>
          <p:nvPr/>
        </p:nvSpPr>
        <p:spPr>
          <a:xfrm>
            <a:off x="188230" y="5023541"/>
            <a:ext cx="3545913" cy="738664"/>
          </a:xfrm>
          <a:prstGeom prst="rect">
            <a:avLst/>
          </a:prstGeom>
          <a:solidFill>
            <a:srgbClr val="7FCDBB"/>
          </a:solidFill>
          <a:ln w="3175">
            <a:solidFill>
              <a:srgbClr val="7FCDBB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Ribosomal proteins and translation-associated factors involved in protein synthesis and cellular adaptation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2E47F-2576-9595-82AA-69E861015182}"/>
              </a:ext>
            </a:extLst>
          </p:cNvPr>
          <p:cNvSpPr txBox="1"/>
          <p:nvPr/>
        </p:nvSpPr>
        <p:spPr>
          <a:xfrm>
            <a:off x="7772952" y="5019170"/>
            <a:ext cx="3545913" cy="738664"/>
          </a:xfrm>
          <a:prstGeom prst="rect">
            <a:avLst/>
          </a:prstGeom>
          <a:solidFill>
            <a:srgbClr val="E7298A"/>
          </a:solidFill>
          <a:ln w="3175">
            <a:solidFill>
              <a:srgbClr val="E7298A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/>
              <a:t>Tailocin</a:t>
            </a:r>
            <a:r>
              <a:rPr lang="en-US" sz="1400" b="1" dirty="0"/>
              <a:t>-associated and phage tail-like contractile proteins involved in interbacterial competition.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FFFC2-A823-307F-38C1-87AC67389CF8}"/>
              </a:ext>
            </a:extLst>
          </p:cNvPr>
          <p:cNvSpPr txBox="1"/>
          <p:nvPr/>
        </p:nvSpPr>
        <p:spPr>
          <a:xfrm>
            <a:off x="3980591" y="5023541"/>
            <a:ext cx="3545913" cy="738664"/>
          </a:xfrm>
          <a:prstGeom prst="rect">
            <a:avLst/>
          </a:prstGeom>
          <a:solidFill>
            <a:srgbClr val="5CB6CA"/>
          </a:solidFill>
          <a:ln w="3175">
            <a:solidFill>
              <a:srgbClr val="4EB3D3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Metabolic and anaerobic stress-response proteins involved in energy homeostasis and arginine catabolism.</a:t>
            </a:r>
            <a:endParaRPr lang="en-US" sz="1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799AC5-52BC-9FDC-28B8-9B824A1F5D2B}"/>
              </a:ext>
            </a:extLst>
          </p:cNvPr>
          <p:cNvSpPr/>
          <p:nvPr/>
        </p:nvSpPr>
        <p:spPr>
          <a:xfrm>
            <a:off x="257423" y="607295"/>
            <a:ext cx="317177" cy="274320"/>
          </a:xfrm>
          <a:prstGeom prst="roundRect">
            <a:avLst/>
          </a:prstGeom>
          <a:solidFill>
            <a:srgbClr val="7FCDBB"/>
          </a:solidFill>
          <a:ln>
            <a:solidFill>
              <a:srgbClr val="7FC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C66FC0-32DD-3797-9612-F4FE4B8BD883}"/>
              </a:ext>
            </a:extLst>
          </p:cNvPr>
          <p:cNvSpPr/>
          <p:nvPr/>
        </p:nvSpPr>
        <p:spPr>
          <a:xfrm>
            <a:off x="7876863" y="604151"/>
            <a:ext cx="317177" cy="274320"/>
          </a:xfrm>
          <a:prstGeom prst="roundRect">
            <a:avLst/>
          </a:prstGeom>
          <a:solidFill>
            <a:srgbClr val="E7298A"/>
          </a:solidFill>
          <a:ln>
            <a:solidFill>
              <a:srgbClr val="E729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63CB0F0-E710-6A96-7BFA-4BA16655FDCC}"/>
              </a:ext>
            </a:extLst>
          </p:cNvPr>
          <p:cNvSpPr/>
          <p:nvPr/>
        </p:nvSpPr>
        <p:spPr>
          <a:xfrm>
            <a:off x="4014255" y="577327"/>
            <a:ext cx="317177" cy="274320"/>
          </a:xfrm>
          <a:prstGeom prst="roundRect">
            <a:avLst/>
          </a:prstGeom>
          <a:solidFill>
            <a:srgbClr val="5CB6CA"/>
          </a:solidFill>
          <a:ln>
            <a:solidFill>
              <a:srgbClr val="4EB3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3B52CBA-D4A1-6CA2-3C7B-1B3C4DC8D371}"/>
              </a:ext>
            </a:extLst>
          </p:cNvPr>
          <p:cNvSpPr txBox="1">
            <a:spLocks/>
          </p:cNvSpPr>
          <p:nvPr/>
        </p:nvSpPr>
        <p:spPr>
          <a:xfrm>
            <a:off x="128601" y="6038889"/>
            <a:ext cx="11172798" cy="741612"/>
          </a:xfrm>
          <a:prstGeom prst="rect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1400" b="1" dirty="0"/>
              <a:t>         MCODE: </a:t>
            </a:r>
            <a:r>
              <a:rPr lang="en-US" sz="1400" dirty="0"/>
              <a:t>Molecular Complex Detection      • </a:t>
            </a:r>
            <a:r>
              <a:rPr lang="en-US" sz="1400" b="1" dirty="0" err="1"/>
              <a:t>recA</a:t>
            </a:r>
            <a:r>
              <a:rPr lang="en-US" sz="1400" dirty="0"/>
              <a:t>: DNA repair and SOS response       • </a:t>
            </a:r>
            <a:r>
              <a:rPr lang="en-US" sz="1400" b="1" dirty="0" err="1"/>
              <a:t>dnaG</a:t>
            </a:r>
            <a:r>
              <a:rPr lang="en-US" sz="1400" b="1" dirty="0"/>
              <a:t>: </a:t>
            </a:r>
            <a:r>
              <a:rPr lang="en-US" sz="1400" dirty="0"/>
              <a:t>DNA replication initiation	</a:t>
            </a:r>
          </a:p>
          <a:p>
            <a:pPr algn="just">
              <a:lnSpc>
                <a:spcPct val="100000"/>
              </a:lnSpc>
            </a:pPr>
            <a:r>
              <a:rPr lang="en-US" sz="1400" b="1" dirty="0"/>
              <a:t>         </a:t>
            </a:r>
            <a:r>
              <a:rPr lang="en-US" sz="1400" b="1" dirty="0" err="1"/>
              <a:t>rpoB</a:t>
            </a:r>
            <a:r>
              <a:rPr lang="en-US" sz="1400" b="1" dirty="0"/>
              <a:t>, </a:t>
            </a:r>
            <a:r>
              <a:rPr lang="en-US" sz="1400" b="1" dirty="0" err="1"/>
              <a:t>rpoC</a:t>
            </a:r>
            <a:r>
              <a:rPr lang="en-US" sz="1400" b="1" dirty="0"/>
              <a:t>: </a:t>
            </a:r>
            <a:r>
              <a:rPr lang="en-US" sz="1400" dirty="0"/>
              <a:t>RNA polymerase and transcription machinery        •</a:t>
            </a:r>
            <a:r>
              <a:rPr lang="en-US" sz="1400" b="1" dirty="0"/>
              <a:t> </a:t>
            </a:r>
            <a:r>
              <a:rPr lang="en-US" sz="1400" b="1" dirty="0" err="1"/>
              <a:t>rpl</a:t>
            </a:r>
            <a:r>
              <a:rPr lang="en-US" sz="1400" b="1" dirty="0"/>
              <a:t>/</a:t>
            </a:r>
            <a:r>
              <a:rPr lang="en-US" sz="1400" b="1" dirty="0" err="1"/>
              <a:t>rps</a:t>
            </a:r>
            <a:r>
              <a:rPr lang="en-US" sz="1400" b="1" dirty="0"/>
              <a:t>/rpm</a:t>
            </a:r>
            <a:r>
              <a:rPr lang="en-US" sz="1400" dirty="0"/>
              <a:t>: Ribosomal proteins and translation machinery   </a:t>
            </a:r>
          </a:p>
          <a:p>
            <a:pPr algn="just">
              <a:lnSpc>
                <a:spcPct val="100000"/>
              </a:lnSpc>
            </a:pPr>
            <a:r>
              <a:rPr lang="en-US" sz="1400" b="1" dirty="0"/>
              <a:t>         </a:t>
            </a:r>
            <a:r>
              <a:rPr lang="en-US" sz="1400" b="1" dirty="0" err="1"/>
              <a:t>arcB</a:t>
            </a:r>
            <a:r>
              <a:rPr lang="en-US" sz="1400" b="1" dirty="0"/>
              <a:t>, </a:t>
            </a:r>
            <a:r>
              <a:rPr lang="en-US" sz="1400" b="1" dirty="0" err="1"/>
              <a:t>arcC</a:t>
            </a:r>
            <a:r>
              <a:rPr lang="en-US" sz="1400" b="1" dirty="0"/>
              <a:t>, </a:t>
            </a:r>
            <a:r>
              <a:rPr lang="en-US" sz="1400" b="1" dirty="0" err="1"/>
              <a:t>arcD</a:t>
            </a:r>
            <a:r>
              <a:rPr lang="en-US" sz="1400" b="1" dirty="0"/>
              <a:t>:</a:t>
            </a:r>
            <a:r>
              <a:rPr lang="en-US" sz="1400" dirty="0"/>
              <a:t> Arginine deiminase pathway       • </a:t>
            </a:r>
            <a:r>
              <a:rPr lang="en-US" sz="1400" b="1" dirty="0"/>
              <a:t>ccoP2:</a:t>
            </a:r>
            <a:r>
              <a:rPr lang="en-US" sz="1400" dirty="0"/>
              <a:t> Microaerobic respiration      • </a:t>
            </a:r>
            <a:r>
              <a:rPr lang="en-US" sz="1400" b="1" dirty="0" err="1"/>
              <a:t>tpiA</a:t>
            </a:r>
            <a:r>
              <a:rPr lang="en-US" sz="1400" b="1" dirty="0"/>
              <a:t>, </a:t>
            </a:r>
            <a:r>
              <a:rPr lang="en-US" sz="1400" b="1" dirty="0" err="1"/>
              <a:t>ackA</a:t>
            </a:r>
            <a:r>
              <a:rPr lang="en-US" sz="1400" b="1" dirty="0"/>
              <a:t>, </a:t>
            </a:r>
            <a:r>
              <a:rPr lang="en-US" sz="1400" b="1" dirty="0" err="1"/>
              <a:t>adhA</a:t>
            </a:r>
            <a:r>
              <a:rPr lang="en-US" sz="1400" b="1" dirty="0"/>
              <a:t>:</a:t>
            </a:r>
            <a:r>
              <a:rPr lang="en-US" sz="1400" dirty="0"/>
              <a:t> Central carbon metabolism      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D804B67-03DB-0763-2688-803C393121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3203" y="1079684"/>
            <a:ext cx="3222434" cy="27432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50261FC-F9CC-6D32-9E40-8D232D48C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41756" y="1175815"/>
            <a:ext cx="322243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22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</TotalTime>
  <Words>183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Functional modules identified by MCODE analysis.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nasrin</dc:creator>
  <cp:lastModifiedBy>nasrin</cp:lastModifiedBy>
  <cp:revision>23</cp:revision>
  <dcterms:created xsi:type="dcterms:W3CDTF">2026-06-28T11:16:08Z</dcterms:created>
  <dcterms:modified xsi:type="dcterms:W3CDTF">2026-07-14T10:18:27Z</dcterms:modified>
</cp:coreProperties>
</file>